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0" i="0" u="none" strike="noStrike">
                <a:solidFill>
                  <a:srgbClr val="1A1F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F2E"/>
                </a:solidFill>
                <a:latin typeface="Calibri"/>
              </a:rPr>
              <a:t>BLEU-4 progression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BLEU-4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F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Attention
(greedy)</c:v>
                  </c:pt>
                  <c:pt idx="2">
                    <c:v>Beam k=5
(final)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0.177</c:v>
                </c:pt>
                <c:pt idx="1">
                  <c:v>0.207</c:v>
                </c:pt>
                <c:pt idx="2">
                  <c:v>0.2403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A1F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47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5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75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A"/>
        </a:solidFill>
        <a:ln>
          <a:noFill/>
        </a:ln>
        <a:effectLst/>
      </c:spPr>
    </c:plotArea>
    <c:plotVisOnly val="1"/>
    <c:dispBlanksAs val="span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548640"/>
            <a:ext cx="594360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· ITI AI-PRO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13716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822960" y="23774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Visual Attention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Show-and-Tell baseline to Show-Attend-and-Tell — built, debugged, evaluated, deployed.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4846320"/>
            <a:ext cx="5029200" cy="960120"/>
          </a:xfrm>
          <a:prstGeom prst="rect">
            <a:avLst/>
          </a:prstGeom>
          <a:solidFill>
            <a:srgbClr val="1F2C42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8463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0.2403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3200400" y="48463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BLEU-4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1,091 images · beam search k=5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Gamal ElKady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 · AI-Pro Track · Final Project Defense</a:t>
            </a:r>
            <a:endParaRPr lang="en-US" sz="1100" dirty="0"/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25-slide walkthrough from problem statement to deployed service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20240" y="19202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dataset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20240" y="2286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captioning, Flickr8k, image-level splits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534924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1783080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498080" y="19202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98080" y="2286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Tokenizer, vocabulary, image transforms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862072"/>
            <a:ext cx="534924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862072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9992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20240" y="29992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920240" y="33649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Show-and-Tell · the bottleneck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862072"/>
            <a:ext cx="534924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2862072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9992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498080" y="29992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upgrade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98080" y="33649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Bahdanau math, decoder loop, why each piece exists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941064"/>
            <a:ext cx="534924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941064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07822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920240" y="407822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war story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920240" y="444398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identity-copy bug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3941064"/>
            <a:ext cx="534924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3941064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407822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16–17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498080" y="407822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&amp; evaluation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98080" y="444398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Greedy, beam search, BLEU/METEOR/CIDEr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020056"/>
            <a:ext cx="534924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020056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15721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18–21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920240" y="515721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920240" y="552297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grid · attention maps · GradCAM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26480" y="5020056"/>
            <a:ext cx="534924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5020056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515721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22–25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498080" y="515721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&amp; wrap-up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498080" y="552297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· conclusion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image captioning, and why is it hard?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goes in. A natural-language sentence comes out.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42316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arbitrary image, generate a fluent description of what it shows. Inputs are pixels; outputs are sequences of words.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48640" y="416052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modalities.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and words live in different spaces — the model must bridge them.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output.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valid captions per image; no single right answer.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generation.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depends on prior words AND on what part of the image is relevant right now.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0" y="1828800"/>
            <a:ext cx="5349240" cy="45262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8368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FROM FLICKR8K</a:t>
            </a:r>
            <a:endParaRPr lang="en-US" sz="1000" dirty="0"/>
          </a:p>
        </p:txBody>
      </p:sp>
      <p:pic>
        <p:nvPicPr>
          <p:cNvPr id="13" name="Image 2" descr="/home/claude/deck/imgs/example_flick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155" y="2331720"/>
            <a:ext cx="1268730" cy="1691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75120" y="40416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3B4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1000268201_693b08cb0e.jpg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868680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human-written captions: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686800" y="26060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in a pink dress is climbing up a set of stairs in an entry way.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girl going into a wooden building.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girl climbing into a wooden playhouse.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girl climbing the stairs to her playhouse.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girl in a pink dress going into a wooden cabin.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6583680" y="4160520"/>
            <a:ext cx="5029200" cy="210312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23760" y="4297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compares against ALL 5 references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766560" y="47091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different annotators say the same scene five different ways. A correct prediction doesn't need to match any single one — just have enough word/n-gram overlap with the set.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146304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4767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8,091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690165"/>
            <a:ext cx="251460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Flickr8k images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697480" cy="146304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94767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40,455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2690165"/>
            <a:ext cx="251460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image-caption pairs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697480" cy="146304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94767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2,557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09360" y="2690165"/>
            <a:ext cx="251460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size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783080"/>
            <a:ext cx="2606040" cy="146304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947672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144000" y="2690165"/>
            <a:ext cx="242316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BLEU-4 (test)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across 7 phases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155448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1605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4800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5120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env, CUDA, Kaggle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57984" y="4023360"/>
            <a:ext cx="155448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60904" y="41605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60904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203704" y="4800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03704" y="5120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split, vocab, pickles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67328" y="4023360"/>
            <a:ext cx="155448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0248" y="41605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70248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813048" y="4800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13048" y="5120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Show-and-Tell · 0.18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76672" y="4023360"/>
            <a:ext cx="1554480" cy="155448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79592" y="4160520"/>
            <a:ext cx="548640" cy="54864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9592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22392" y="4800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22392" y="5120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Show-Attend-Tell · 0.22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86016" y="4023360"/>
            <a:ext cx="155448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88936" y="41605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88936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031736" y="4800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31736" y="5120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· 0.24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595360" y="4023360"/>
            <a:ext cx="155448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98280" y="41605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9828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641080" y="4800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641080" y="5120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taxonomy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204704" y="4023360"/>
            <a:ext cx="155448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707624" y="41605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707624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250424" y="4800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250424" y="5120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Gradio + Docker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data preprocessing, two model variants, hyperparameter search, full evaluation suite, error analysis, production-ready service.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Flickr8k — small, careful, image-level split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8,091 photos · 5 captions each · 40,455 rows · split at the image level (not the row level)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68096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783080"/>
            <a:ext cx="324612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947672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503920" y="2576779"/>
            <a:ext cx="30632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images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412480" y="3108960"/>
            <a:ext cx="324612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0" y="3273552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8503920" y="3902659"/>
            <a:ext cx="30632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images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412480" y="4434840"/>
            <a:ext cx="324612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0" y="4599432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1,091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8503920" y="5228539"/>
            <a:ext cx="30632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035040"/>
            <a:ext cx="11109960" cy="36576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6035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783080" y="6035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(train ∩ val == ∅) and (train ∩ test == ∅) and (val ∩ test == ∅)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VOCABULARY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Zipf curve — and why we threshold at frequency 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are dominated by function words. Rare words can't be learned from a handful of examples.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8580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vocabulary decisions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80960" y="2240280"/>
            <a:ext cx="4023360" cy="8686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0" y="2240280"/>
            <a:ext cx="54864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freq_threshold = 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18120" y="2606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with &lt;5 occurrences across training collapse to &lt;unk&gt;. Below 5 there's no signal to learn from.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80960" y="3200400"/>
            <a:ext cx="4023360" cy="8686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0" y="3200400"/>
            <a:ext cx="54864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size = 2,557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818120" y="3566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7,469 unique training words. Output Linear(512 → 2,557) stays at ~1.3M params — fits the data.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680960" y="4160520"/>
            <a:ext cx="4023360" cy="8686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0" y="4160520"/>
            <a:ext cx="54864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18120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 / 96.4% / 96.1%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818120" y="4526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on train / val / test. The 2-3% gap is real &lt;unk&gt; from new words. Good sign.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four special tokens with FIXED indices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577840"/>
            <a:ext cx="2697480" cy="77724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56692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051560" y="5669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&lt;pad&gt;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51560" y="5943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ignore_index in CrossEntropy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337560" y="5577840"/>
            <a:ext cx="2697480" cy="77724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29000" y="56692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3840480" y="5669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&lt;start&gt;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840480" y="5943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1st input at inference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126480" y="5577840"/>
            <a:ext cx="2697480" cy="77724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17920" y="56692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6629400" y="5669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&lt;end&gt;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629400" y="5943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signal for generation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915400" y="5577840"/>
            <a:ext cx="2697480" cy="77724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006840" y="56692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9418320" y="5669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&lt;unk&gt;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418320" y="5943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/ out-of-vocab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IMAGE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transform pipelines — training vs evaluation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preserve aspect ratio · why we normalize · why we randomize only at training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Resize(256) — shorter side to 256, aspect ratio preserved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RandomCrop(224) — pick a random 224×224 window each epoch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RandomHorizontalFlip(p=0.5) — free 2× data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ColorJitter(brightness=0.2, contrast=0.2) — lighting robust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ToTensor() — (H,W,3) uint8 → (3,H,W) float [0,1]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Normalize(ImageNet mean/std) — match ResNet's distribution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5508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55080" y="21031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Resize((224, 224)) — direct resize to model input size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ToTensor()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Normalize(ImageNet mean/std)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55080" y="32918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randomness at eval — the same image must always produce the same prediction.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3657600" cy="20116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480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preserve aspect ratio?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learned object proportions on ImageNet. Squashing a 400×500 image to 224×224 distorts shapes — the dachshund stops looking like a dachshund.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4297680"/>
            <a:ext cx="3657600" cy="20116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4480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normalize?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50292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was trained on N(ImageNet mean, std) inputs. Skipping normalization costs ~0.08 BLEU-4 silently.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4297680"/>
            <a:ext cx="3657600" cy="20116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4480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color jitter only B/C?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50292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and contrast preserve semantics. Jittering hue/saturation would turn 'red dog' into 'blue dog' — invalidating the caption.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BASELINE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and Tell — image as 'token zero'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→ 256-dim summary → LSTM. The simplest end-to-end captioner that works.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943600" cy="393192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(Phase 3)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5577840" cy="640080"/>
          </a:xfrm>
          <a:prstGeom prst="rect">
            <a:avLst/>
          </a:prstGeom>
          <a:solidFill>
            <a:srgbClr val="ECFDF5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ResNet50 (frozen)  →  Linear(2048→256)  →  BatchNorm  →  256-dim vector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3383280" y="2971800"/>
            <a:ext cx="228600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31520" y="3291840"/>
            <a:ext cx="5577840" cy="2331720"/>
          </a:xfrm>
          <a:prstGeom prst="rect">
            <a:avLst/>
          </a:prstGeom>
          <a:solidFill>
            <a:srgbClr val="ECFDF5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" y="3657600"/>
            <a:ext cx="5349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= nn.Embedding(2557, 256)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 = [image, &lt;start&gt;, w₁, w₂, ...]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lstm = nn.LSTM(input=256, hidden=512)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 = nn.Dropout(0.5)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 = Linear(512, 2557)  # vocab logits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75120" y="1783080"/>
            <a:ext cx="4983480" cy="123444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as token 0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0" y="22860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256-dim image feature is concatenated to the embedding sequence — the LSTM sees [image, &lt;start&gt;, a, dog, ...] as one homogeneous stream of vectors.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675120" y="3108960"/>
            <a:ext cx="4983480" cy="123444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0" y="3246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ResNet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58000" y="36118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23.5M ImageNet-pretrained params stay fixed. Only ~525K projection params + ~3.4M decoder params train. Fits 6K images.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675120" y="4434840"/>
            <a:ext cx="4983480" cy="123444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0" y="4572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forcing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5800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training, LSTM receives ground-truth previous words. PyTorch's fused kernel runs all timesteps in ONE call. Fast.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5852160"/>
            <a:ext cx="11109960" cy="36576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indent="0" marL="0">
              <a:buNone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BLEU-4 = 0.1772 at epoch 14 · 17 min training on 6 GB GPU · template captions, generic outputs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ENCODER DEEP-DIVE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image becomes a feature vector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progressively trades spatial detail for semantic depth. We tap into different layers depending on the model.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1110996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760720"/>
            <a:ext cx="5486400" cy="822960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852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tap · [:-1]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6172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only fc. Keep avgpool. Get one 2048-dim summary → project to 256.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5760720"/>
            <a:ext cx="5486400" cy="82296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5852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tap · [:-2]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309360" y="6172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fc AND avgpool. Keep the (2048, 7, 7) spatial grid → 49 location vectors.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TEACHER FORCING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LSTM is actually trained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and targets are shifted by one position — that's what makes the model learn to predict the NEXT word.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106424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715000"/>
            <a:ext cx="11109960" cy="64008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806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5760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fast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280160" y="6035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are known up front (they're the ground-truth caption). PyTorch's fused LSTM kernel runs all T timesteps in one CUDA call. ~4× faster.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BOTTLENECK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summary vector isn't enough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pixels compressed to 256 numbers. Every word generated from the same summary.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8580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observable failures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80960" y="2240280"/>
            <a:ext cx="4023360" cy="1097280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3774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7532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lock-in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818120" y="27889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skeleton recycled: "a [person] in a [color] [shirt] is [verb] on a [surface]".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680960" y="3429000"/>
            <a:ext cx="4023360" cy="1097280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5661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7532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collapse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818120" y="39776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400 of 2,557 known words actually used at inference (15.6%).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680960" y="4617720"/>
            <a:ext cx="4023360" cy="1097280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7548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7532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attribute grounding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818120" y="51663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object, wrong color. Right scene, wrong action. Summary loses fine details.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48640" y="5943600"/>
            <a:ext cx="11109960" cy="594360"/>
          </a:xfrm>
          <a:prstGeom prst="rect">
            <a:avLst/>
          </a:prstGeom>
          <a:solidFill>
            <a:srgbClr val="0F1729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85800" y="5943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 </a:t>
            </a:r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keep the spatial grid · let the decoder query different regions per word  →  ATTENTION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ATTENTION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Show, Attend and Tell — what changed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architecture-level diff between the baseline and the attention model.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110996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ATTENTION MECHANICS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Bahdanau attention — the score, softmax, blend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that turn the decoder's question into a custom image summary for the next word.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110996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ATTENTION INTUITION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piece of the formula exists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— the universal pattern behind every modern attention mechanism.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45262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as content-based lookup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hidden state — what am I looking for right now?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49 spatial features — what's available to look at?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49 features — what do I retrieve?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4709160"/>
            <a:ext cx="4937760" cy="0"/>
          </a:xfrm>
          <a:prstGeom prst="line">
            <a:avLst/>
          </a:prstGeom>
          <a:noFill/>
          <a:ln w="6350">
            <a:solidFill>
              <a:srgbClr val="C9D1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8463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analogy.  </a:t>
            </a:r>
            <a:pPr indent="0" marL="0">
              <a:buNone/>
            </a:pPr>
            <a:r>
              <a:rPr lang="en-US" sz="115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into a library with a question (query). Each book's spine has labels (keys). Contents are the values. Score each spine, weight, blend.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piece exists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2240280"/>
            <a:ext cx="553212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2331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W_enc and W_dec?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6364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2048-dim, hidden is 512-dim — different sizes can't be added. Both project into a shared 256-dim attention space.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26480" y="3273552"/>
            <a:ext cx="553212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33649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tanh?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63640" y="36393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nonlinearity the score collapses to a linear function. Tanh is bounded and zero-centered — ideal for similarity scores that can be positive or negative.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26480" y="4306824"/>
            <a:ext cx="553212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43982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V?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63640" y="46725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ONE scalar per location to feed softmax. V collapses the 256-dim attention vector into a single learned-weighted score.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26480" y="5340096"/>
            <a:ext cx="553212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63640" y="543153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softmax?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263640" y="570585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49 arbitrary scores into 49 weights summing to 1 — a proper probability distribution over locations.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DECODER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timestep of the attention decoder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operations per generated word: score, blend, concat, step, project.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194560" cy="219456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0116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softmax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alphas summing to 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79776" y="1783080"/>
            <a:ext cx="2194560" cy="219456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20116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79776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779776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vector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71216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α_i · f_i — 2048-dim blend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10912" y="1783080"/>
            <a:ext cx="2194560" cy="219456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20116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10912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5010912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102352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[emb(word_t); context_t] = 2304-dim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242048" y="1783080"/>
            <a:ext cx="2194560" cy="219456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01168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42048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242048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LSTMCell step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333488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new (h_t, c_t)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473184" y="1783080"/>
            <a:ext cx="2194560" cy="219456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2011680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473184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9473184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→ vocab logits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564624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Linear(512 → 2,557)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implementation notes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548640" y="4617720"/>
            <a:ext cx="3657600" cy="169164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3152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LSTMCell instead of nn.LSTM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731520" y="51206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inject attention between every step, so we can't use the fused kernel. Manual Python loop, slower per step but flexible.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251960" y="4617720"/>
            <a:ext cx="3657600" cy="169164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43484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 from features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4434840" y="51206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h_0 = tanh(init_h(features.mean(dim=1))). The mean of 49 features seeds the hidden state instead of zeros.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7955280" y="4617720"/>
            <a:ext cx="3657600" cy="169164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813816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alphas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8138160" y="51206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store all 49-dim alphas across timesteps for the doubly-stochastic regularizer and for visualization (the per-word heatmaps).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ENGINEERING WAR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identity-copy bug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collapsed to 0.0001 in 3 epochs. BLEU stayed at 0.00 for 16 epochs. Here's why.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10996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INFERENCE · GREEDY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decoding — argmax at every step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simple, locally myopic. Each prediction becomes the next input.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110996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86400"/>
            <a:ext cx="365760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486400"/>
            <a:ext cx="54864" cy="9144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577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· Fast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5852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forward path. No branching. ~5 sec for 200 val images.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51960" y="5486400"/>
            <a:ext cx="365760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51960" y="5486400"/>
            <a:ext cx="54864" cy="9144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34840" y="5577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· Locally myopic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34840" y="5852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to highest-prob first word. Misses globally better sequences hidden behind low-prob first words.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55280" y="5486400"/>
            <a:ext cx="365760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0" y="5486400"/>
            <a:ext cx="54864" cy="9144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5577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· Exposure bias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38160" y="5852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with ground-truth previous words. At inference must continue from its own (possibly wrong) predictions.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INFERENCE · BEAM SEARCH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— keep top-k candidates alive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but smarter. Picks the best COMPLETE sequence at the end, not just the best next word.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77240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0" y="1783080"/>
            <a:ext cx="3154680" cy="1371600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783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03920" y="21488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0.2073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503920" y="2788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 on full test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503920" y="3291840"/>
            <a:ext cx="3154680" cy="1371600"/>
          </a:xfrm>
          <a:prstGeom prst="rect">
            <a:avLst/>
          </a:prstGeom>
          <a:solidFill>
            <a:srgbClr val="0F1729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0" y="3291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K=5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03920" y="36576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0.2403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8503920" y="4297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 on full test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503920" y="4800600"/>
            <a:ext cx="3154680" cy="132588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0" y="4937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503920" y="54406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lift, free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03920" y="5760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smarter decoding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numbers across the project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 grew from 0.18 (baseline) to 0.21 (+ attention) to 0.24 (+ beam search) — +36% relative.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(Show &amp; Tell)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(greedy)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Beam (k=5)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0.586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0.626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0.6488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0.394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0.434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0.4714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0.265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0.302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0.3378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BLEU-4 (headline)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4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0.177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4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0.207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478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0.2403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0.4270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0.6004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0.4795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7589520" y="1783080"/>
          <a:ext cx="40690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23560"/>
            <a:ext cx="11109960" cy="77724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76072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5760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+36% relative BLEU-4 lift</a:t>
            </a:r>
            <a:pPr indent="0" marL="0">
              <a:buNone/>
            </a:pPr>
            <a:r>
              <a:rPr lang="en-US" sz="13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baseline → final · attention contributes ~17%, beam search adds another ~16% on top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QUALITATIVE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actually produces — Good, Mediocre, Bad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random test images sampled across the BLEU-4 range. Beam search k=5.</a:t>
            </a:r>
            <a:endParaRPr lang="en-US" sz="1400" dirty="0"/>
          </a:p>
        </p:txBody>
      </p:sp>
      <p:pic>
        <p:nvPicPr>
          <p:cNvPr id="5" name="Image 0" descr="/home/claude/deck/imgs/01_qualitative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7240" y="1691640"/>
            <a:ext cx="5157216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126480"/>
            <a:ext cx="11109960" cy="365760"/>
          </a:xfrm>
          <a:prstGeom prst="rect">
            <a:avLst/>
          </a:prstGeom>
          <a:solidFill>
            <a:srgbClr val="0F1729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reliable on dogs and groups · struggles with action verbs and rare scenes (skateboarding, fencing, t-bar)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EXPLAINABILITY · ATTENTION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Per-word attention — when 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from our model · BLEU-4 = 0.51 · prediction matches reality.</a:t>
            </a:r>
            <a:endParaRPr lang="en-US" sz="1400" dirty="0"/>
          </a:p>
        </p:txBody>
      </p:sp>
      <p:pic>
        <p:nvPicPr>
          <p:cNvPr id="5" name="Image 0" descr="/home/claude/deck/imgs/02_attention_success_brown_dog_BLEU4_0_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737" y="1783080"/>
            <a:ext cx="7710221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029200"/>
            <a:ext cx="3657600" cy="105156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120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'brown' &amp; 'dog'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541324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concentrates tightly on the dog's body — color and object grounding work together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51960" y="5029200"/>
            <a:ext cx="3657600" cy="105156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0" y="5120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'running'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34840" y="541324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up on the splashing water around the legs — verb is grounded in motion cues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55280" y="5029200"/>
            <a:ext cx="3657600" cy="105156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0" y="5120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'water'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38160" y="541324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to the river surface below the dog — scene-level attribute correctly localized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617220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 </a:t>
            </a:r>
            <a:pPr algn="ctr"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brown dog is running through the water"   ·   </a:t>
            </a:r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 = 0.51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EXPLAINABILITY · WHEN ATTENTION FAILS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region · wrong words — the limits of pure attention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different image. Attention is fine but the decoder hallucinates.</a:t>
            </a:r>
            <a:endParaRPr lang="en-US" sz="1400" dirty="0"/>
          </a:p>
        </p:txBody>
      </p:sp>
      <p:pic>
        <p:nvPicPr>
          <p:cNvPr id="5" name="Image 0" descr="/home/claude/deck/imgs/04_attention_failure_fencing_BLEU4_0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678778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0" y="1783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498080" y="2148840"/>
            <a:ext cx="4160520" cy="841248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0" y="2148840"/>
            <a:ext cx="54864" cy="841248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22402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truth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35240" y="2468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fencers in white uniforms, one mid-jump, sabres extended.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98080" y="3063240"/>
            <a:ext cx="4160520" cy="841248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0" y="3063240"/>
            <a:ext cx="54864" cy="8412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35240" y="3154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says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35240" y="3383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man in a white uniform is kicking a ball in a gym"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498080" y="3977640"/>
            <a:ext cx="4160520" cy="841248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0" y="3977640"/>
            <a:ext cx="54864" cy="8412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35240" y="4069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attention got right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635240" y="4297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DID look at the fencers. The maps for 'man' and 'white uniform' focus on the jumping figure correctly.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498080" y="4892040"/>
            <a:ext cx="4160520" cy="841248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98080" y="4892040"/>
            <a:ext cx="54864" cy="8412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983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635240" y="5212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defaulted to a TRAINING-CORPUS template. 'White uniform + gym + jumping' = sports → 'kicking a ball'. The model has never seen fencing.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5852160"/>
            <a:ext cx="11109960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585216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 </a:t>
            </a:r>
            <a:pPr algn="ctr"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man in a white uniform is kicking a ball in a gym"   ·   </a:t>
            </a:r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 = 0.09  (template lock-in)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ATTENTION vs GRADCAM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interpretability methods on the SAME image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queries the spatial grid per-word · GradCAM finds salient regions for the encoder, post-hoc.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 (encoder, post-hoc)</a:t>
            </a:r>
            <a:endParaRPr lang="en-US" sz="1100" dirty="0"/>
          </a:p>
        </p:txBody>
      </p:sp>
      <p:pic>
        <p:nvPicPr>
          <p:cNvPr id="6" name="Image 0" descr="/home/claude/deck/imgs/07_gradcam_brown_d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2103120"/>
            <a:ext cx="427482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5262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heatmap per image · shows where the encoder's last conv layer fires hardest.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263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(decoder, per-word)</a:t>
            </a:r>
            <a:endParaRPr lang="en-US" sz="1100" dirty="0"/>
          </a:p>
        </p:txBody>
      </p:sp>
      <p:pic>
        <p:nvPicPr>
          <p:cNvPr id="9" name="Image 1" descr="/home/claude/deck/imgs/02_attention_success_brown_dog_BLEU4_0_5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103120"/>
            <a:ext cx="5577840" cy="22494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45262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heatmaps · one per generated word · shows what the decoder queried at each step.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5074920"/>
            <a:ext cx="3657600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8368" y="5074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of mean(features) w.r.t. layer4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51960" y="5074920"/>
            <a:ext cx="3657600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361688" y="5074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Granularity: </a:t>
            </a:r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heatmap per image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955280" y="5074920"/>
            <a:ext cx="3657600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065008" y="5074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backward pass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5577840"/>
            <a:ext cx="365760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58368" y="5577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alphas tensor in the decoder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251960" y="5577840"/>
            <a:ext cx="365760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61688" y="5577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Granularity: </a:t>
            </a:r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heatmap per generated word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955280" y="5577840"/>
            <a:ext cx="365760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065008" y="5577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pPr indent="0" marL="0">
              <a:buNone/>
            </a:pPr>
            <a:r>
              <a:rPr lang="en-US" sz="105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already computed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ERROR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fails — six recurring patterns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BLEU is optimistic. Per-image median is much lower. Half the predictions miss badly.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5760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object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4963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omits a salient object in the scene.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1104" y="1783080"/>
            <a:ext cx="365760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201168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398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38344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attribute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43984" y="24963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object, wrong color/size — 'red' vs 'blue' shirt.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73568" y="1783080"/>
            <a:ext cx="365760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201168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644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50808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relationship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56448" y="24963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objects, wrong action — 'dog chasing' vs 'dog beside'.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365760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caption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3913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slot-filling: 'a man is standing on a beach'.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61104" y="3200400"/>
            <a:ext cx="365760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43984" y="342900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38344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43984" y="3913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that's not in the image at all (rare but visible).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73568" y="3200400"/>
            <a:ext cx="365760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E1E5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6448" y="342900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5644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50808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56448" y="3913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word/bigram repeated — 'dog dog' or 'on the on the'.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754880"/>
            <a:ext cx="5486400" cy="155448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892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collapse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77240" y="5303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of 2,557</a:t>
            </a:r>
            <a:pPr indent="0" marL="0">
              <a:buNone/>
            </a:pPr>
            <a:r>
              <a:rPr lang="en-US" sz="12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words actually used (15.6%)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77240" y="5897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'safe-word bias' — the model converges on a vocabulary subset and stays there.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4754880"/>
            <a:ext cx="5532120" cy="1554480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4892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Per-image BLEU is bimodal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5303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0.128</a:t>
            </a:r>
            <a:pPr indent="0" marL="0">
              <a:buNone/>
            </a:pPr>
            <a:r>
              <a:rPr lang="en-US" sz="12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corpus 0.24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355080" y="5897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of predictions score below BLEU-4 = 0.1 — corpus number is optimistic.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· ITI AI-Pro · Final Project Defense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</p:spTree>
  </p:cSld>
  <p:transition spd="med">
    <p:fade/>
  </p:transition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· WHAT I LEARNED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3657600" cy="2926080"/>
          </a:xfrm>
          <a:prstGeom prst="rect">
            <a:avLst/>
          </a:prstGeom>
          <a:solidFill>
            <a:srgbClr val="1F2C42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231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Show-Attend-and-Tell cleanly beats Show-and-Tell. Attention isn't just a BLEU lift — it's interpretability.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51960" y="2194560"/>
            <a:ext cx="3657600" cy="2926080"/>
          </a:xfrm>
          <a:prstGeom prst="rect">
            <a:avLst/>
          </a:prstGeom>
          <a:solidFill>
            <a:srgbClr val="1F2C42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4231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526280" y="35204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identity-copy bug is the lesson · if loss collapses to zero, you have a shift bug. Always inspect input/target alignment.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001000" y="2194560"/>
            <a:ext cx="3657600" cy="2926080"/>
          </a:xfrm>
          <a:prstGeom prst="rect">
            <a:avLst/>
          </a:prstGeom>
          <a:solidFill>
            <a:srgbClr val="1F2C42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4231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7532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275320" y="35204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Save-on-best vs save-on-last. Image-level splits. Same tokenizer everywhere. These small disciplines determine whether your numbers are real.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5486400"/>
            <a:ext cx="11201400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02920" y="5486400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· </a:t>
            </a:r>
            <a:pPr algn="ctr" indent="0" marL="0">
              <a:buNone/>
            </a:pPr>
            <a:r>
              <a:rPr lang="en-US" sz="17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 0.2403  ·  METEOR 0.4270  ·  CIDEr 0.6004  ·  ROUGE-L 0.4795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2296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questions welcome.</a:t>
            </a:r>
            <a:endParaRPr lang="en-US" sz="1100" dirty="0"/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Captioning with Visual Attention</dc:title>
  <dc:subject>PptxGenJS Presentation</dc:subject>
  <dc:creator>Omar Gamal ElKady</dc:creator>
  <cp:lastModifiedBy>Omar Gamal ElKady</cp:lastModifiedBy>
  <cp:revision>1</cp:revision>
  <dcterms:created xsi:type="dcterms:W3CDTF">2026-04-27T10:45:05Z</dcterms:created>
  <dcterms:modified xsi:type="dcterms:W3CDTF">2026-04-27T10:45:05Z</dcterms:modified>
</cp:coreProperties>
</file>